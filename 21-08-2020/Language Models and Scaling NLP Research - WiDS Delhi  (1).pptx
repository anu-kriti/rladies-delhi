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88825"/>
  <p:notesSz cx="6858000" cy="9144000"/>
  <p:embeddedFontLst>
    <p:embeddedFont>
      <p:font typeface="Helvetica Neue"/>
      <p:regular r:id="rId27"/>
      <p:bold r:id="rId28"/>
      <p:italic r:id="rId29"/>
      <p:boldItalic r:id="rId30"/>
    </p:embeddedFont>
    <p:embeddedFont>
      <p:font typeface="Barlow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5" roundtripDataSignature="AMtx7miZwDSbp5FLxKAGnltpcWo4+d7W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-regular.fnt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33" Type="http://schemas.openxmlformats.org/officeDocument/2006/relationships/font" Target="fonts/Barlow-italic.fntdata"/><Relationship Id="rId10" Type="http://schemas.openxmlformats.org/officeDocument/2006/relationships/slide" Target="slides/slide5.xml"/><Relationship Id="rId32" Type="http://schemas.openxmlformats.org/officeDocument/2006/relationships/font" Target="fonts/Barlow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Barlow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1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942c369cf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g942c369cf5_0_2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8d2fcf7eb2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g8d2fcf7eb2_2_21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942c369cf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g942c369cf5_0_8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8d2fcf7eb2_7_8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8d2fcf7eb2_7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g8d2fcf7eb2_7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942c369cf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g942c369cf5_0_17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942c369cf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g942c369cf5_2_0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942c369cf5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942c369cf5_2_8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d2fcf7eb2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8d2fcf7eb2_2_8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944d934fb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944d934fb9_0_7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8d2fcf7eb2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8d2fcf7eb2_2_28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944d934fb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944d934fb9_0_24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d2fcf7eb2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8d2fcf7eb2_2_37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944d934fb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944d934fb9_0_16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944d934fb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944d934fb9_0_2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8d2fcf7eb2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8d2fcf7eb2_2_45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609442" y="200026"/>
            <a:ext cx="10969942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609441" y="1761066"/>
            <a:ext cx="10969943" cy="4700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C89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C89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C89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C89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C89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C89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C89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C89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C89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C8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C89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C8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C89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C8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C89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C8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9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" type="body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75787B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7578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9"/>
          <p:cNvSpPr/>
          <p:nvPr/>
        </p:nvSpPr>
        <p:spPr>
          <a:xfrm>
            <a:off x="-1" y="6151036"/>
            <a:ext cx="12188825" cy="706964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IDS_logo_Horizontal_widsonly_white.png" id="18" name="Google Shape;1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478" y="6167970"/>
            <a:ext cx="2432092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body"/>
          </p:nvPr>
        </p:nvSpPr>
        <p:spPr>
          <a:xfrm>
            <a:off x="609441" y="1600201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75787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7578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2" type="body"/>
          </p:nvPr>
        </p:nvSpPr>
        <p:spPr>
          <a:xfrm>
            <a:off x="6195986" y="1600201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75787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7578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20"/>
          <p:cNvSpPr/>
          <p:nvPr/>
        </p:nvSpPr>
        <p:spPr>
          <a:xfrm>
            <a:off x="-1" y="6151036"/>
            <a:ext cx="12188825" cy="706964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IDS_logo_Horizontal_widsonly_white.png" id="24" name="Google Shape;2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478" y="6167970"/>
            <a:ext cx="2432092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609441" y="1535113"/>
            <a:ext cx="5385514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75787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7578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21"/>
          <p:cNvSpPr txBox="1"/>
          <p:nvPr>
            <p:ph idx="2" type="body"/>
          </p:nvPr>
        </p:nvSpPr>
        <p:spPr>
          <a:xfrm>
            <a:off x="609441" y="2174875"/>
            <a:ext cx="5385514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75787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7578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21"/>
          <p:cNvSpPr txBox="1"/>
          <p:nvPr>
            <p:ph idx="3" type="body"/>
          </p:nvPr>
        </p:nvSpPr>
        <p:spPr>
          <a:xfrm>
            <a:off x="6191754" y="1535113"/>
            <a:ext cx="538763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75787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7578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4" type="body"/>
          </p:nvPr>
        </p:nvSpPr>
        <p:spPr>
          <a:xfrm>
            <a:off x="6191754" y="2174875"/>
            <a:ext cx="538763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75787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7578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21"/>
          <p:cNvSpPr/>
          <p:nvPr/>
        </p:nvSpPr>
        <p:spPr>
          <a:xfrm>
            <a:off x="-1" y="6151036"/>
            <a:ext cx="12188825" cy="706964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IDS_logo_Horizontal_widsonly_white.png" id="32" name="Google Shape;3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478" y="6167970"/>
            <a:ext cx="2432092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/>
          <p:nvPr/>
        </p:nvSpPr>
        <p:spPr>
          <a:xfrm>
            <a:off x="-1" y="6151036"/>
            <a:ext cx="12188825" cy="706964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IDS_logo_Horizontal_widsonly_white.png" id="36" name="Google Shape;3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478" y="6167970"/>
            <a:ext cx="2432092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/>
          <p:nvPr/>
        </p:nvSpPr>
        <p:spPr>
          <a:xfrm>
            <a:off x="-1" y="6151036"/>
            <a:ext cx="12188825" cy="706964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IDS_logo_Horizontal_widsonly_white.png" id="39" name="Google Shape;3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478" y="6167970"/>
            <a:ext cx="2432092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None/>
              <a:defRPr b="0" i="0" sz="3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about:blank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hyperlink" Target="https://arxiv.org/pdf/2005.14165.pdf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pen.spotify.com/album/7mgetomXfMA9ihjH2cUkUS?si=3afz2JjHTr-1en2JDZTFTA#login" TargetMode="External"/><Relationship Id="rId4" Type="http://schemas.openxmlformats.org/officeDocument/2006/relationships/hyperlink" Target="https://gpt3examples.com/#examples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linkedin.com/in/chirasmitamallick/" TargetMode="External"/><Relationship Id="rId4" Type="http://schemas.openxmlformats.org/officeDocument/2006/relationships/hyperlink" Target="mailto:hello@chirasmita.com" TargetMode="External"/><Relationship Id="rId5" Type="http://schemas.openxmlformats.org/officeDocument/2006/relationships/hyperlink" Target="http://www.chirasmita.com" TargetMode="External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"/>
          <p:cNvGrpSpPr/>
          <p:nvPr/>
        </p:nvGrpSpPr>
        <p:grpSpPr>
          <a:xfrm>
            <a:off x="4934781" y="6073968"/>
            <a:ext cx="1873272" cy="371375"/>
            <a:chOff x="5228576" y="5902263"/>
            <a:chExt cx="1873272" cy="371375"/>
          </a:xfrm>
        </p:grpSpPr>
        <p:sp>
          <p:nvSpPr>
            <p:cNvPr id="45" name="Google Shape;45;p1"/>
            <p:cNvSpPr/>
            <p:nvPr/>
          </p:nvSpPr>
          <p:spPr>
            <a:xfrm>
              <a:off x="5686076" y="5903284"/>
              <a:ext cx="14157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#WiDS2020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witterLogo_grey.png" id="46" name="Google Shape;46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28576" y="5902263"/>
              <a:ext cx="457200" cy="3713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7" name="Google Shape;47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450" y="1428200"/>
            <a:ext cx="10266795" cy="392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0" y="3420533"/>
            <a:ext cx="12188700" cy="21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Language models and its Implications in scaling NLP Research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br>
              <a:rPr b="1" i="0" lang="en-US" sz="2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2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Chirasmita Mallick</a:t>
            </a:r>
            <a:br>
              <a:rPr b="1" i="0" lang="en-US" sz="2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Principal Data Scientist, G2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5975" y="364150"/>
            <a:ext cx="2770164" cy="29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/>
        </p:nvSpPr>
        <p:spPr>
          <a:xfrm>
            <a:off x="1815350" y="2945625"/>
            <a:ext cx="77697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1"/>
          <p:cNvSpPr txBox="1"/>
          <p:nvPr/>
        </p:nvSpPr>
        <p:spPr>
          <a:xfrm>
            <a:off x="1509025" y="2021025"/>
            <a:ext cx="92025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0B14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00B140"/>
                </a:solidFill>
                <a:highlight>
                  <a:schemeClr val="lt1"/>
                </a:highlight>
              </a:rPr>
              <a:t>NLP is going to be the most transformational tech of the decade</a:t>
            </a:r>
            <a:r>
              <a:rPr b="1" lang="en-US" sz="2200">
                <a:solidFill>
                  <a:srgbClr val="00B140"/>
                </a:solidFill>
                <a:highlight>
                  <a:schemeClr val="lt1"/>
                </a:highlight>
              </a:rPr>
              <a:t>  </a:t>
            </a:r>
            <a:endParaRPr>
              <a:solidFill>
                <a:srgbClr val="00B14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942c369cf5_0_2"/>
          <p:cNvSpPr txBox="1"/>
          <p:nvPr/>
        </p:nvSpPr>
        <p:spPr>
          <a:xfrm>
            <a:off x="1815350" y="2945625"/>
            <a:ext cx="77697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942c369cf5_0_2"/>
          <p:cNvSpPr txBox="1"/>
          <p:nvPr/>
        </p:nvSpPr>
        <p:spPr>
          <a:xfrm>
            <a:off x="1638850" y="945500"/>
            <a:ext cx="72615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B1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History of Language Models </a:t>
            </a:r>
            <a:endParaRPr b="1" i="0" sz="3200" u="none" cap="none" strike="noStrike">
              <a:solidFill>
                <a:srgbClr val="00B1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7" name="Google Shape;67;g942c369cf5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7100" y="2054875"/>
            <a:ext cx="5193924" cy="317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8d2fcf7eb2_2_21"/>
          <p:cNvSpPr txBox="1"/>
          <p:nvPr/>
        </p:nvSpPr>
        <p:spPr>
          <a:xfrm>
            <a:off x="1815350" y="2945625"/>
            <a:ext cx="77697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8d2fcf7eb2_2_21"/>
          <p:cNvSpPr txBox="1"/>
          <p:nvPr/>
        </p:nvSpPr>
        <p:spPr>
          <a:xfrm>
            <a:off x="1342425" y="655550"/>
            <a:ext cx="84486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B1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Rise in Success of Unsupervised Learning</a:t>
            </a:r>
            <a:r>
              <a:rPr b="1" i="0" lang="en-US" sz="3100" u="none" cap="none" strike="noStrike">
                <a:solidFill>
                  <a:srgbClr val="00B1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endParaRPr b="1" i="0" sz="3100" u="none" cap="none" strike="noStrike">
              <a:solidFill>
                <a:srgbClr val="00B1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4" name="Google Shape;74;g8d2fcf7eb2_2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5350" y="1794750"/>
            <a:ext cx="7597123" cy="391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942c369cf5_0_8"/>
          <p:cNvSpPr txBox="1"/>
          <p:nvPr/>
        </p:nvSpPr>
        <p:spPr>
          <a:xfrm>
            <a:off x="1815350" y="2945625"/>
            <a:ext cx="77697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942c369cf5_0_8"/>
          <p:cNvSpPr txBox="1"/>
          <p:nvPr/>
        </p:nvSpPr>
        <p:spPr>
          <a:xfrm>
            <a:off x="1638850" y="945500"/>
            <a:ext cx="72615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B1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Unsupervised Supremacy</a:t>
            </a:r>
            <a:endParaRPr b="1" i="0" sz="3200" u="none" cap="none" strike="noStrike">
              <a:solidFill>
                <a:srgbClr val="00B1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g942c369cf5_0_8"/>
          <p:cNvSpPr txBox="1"/>
          <p:nvPr/>
        </p:nvSpPr>
        <p:spPr>
          <a:xfrm>
            <a:off x="1926700" y="1751550"/>
            <a:ext cx="77607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At the end of the day, We want to build systems that can utilize all the data that is available to us . 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RL systems make use of reward signals only. 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Supervised Learning scaled faster too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Now, The same is happening with </a:t>
            </a:r>
            <a:r>
              <a:rPr b="1" lang="en-US" sz="1800">
                <a:latin typeface="Helvetica Neue"/>
                <a:ea typeface="Helvetica Neue"/>
                <a:cs typeface="Helvetica Neue"/>
                <a:sym typeface="Helvetica Neue"/>
              </a:rPr>
              <a:t>unsupervised learning</a:t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d2fcf7eb2_7_8"/>
          <p:cNvSpPr txBox="1"/>
          <p:nvPr>
            <p:ph type="title"/>
          </p:nvPr>
        </p:nvSpPr>
        <p:spPr>
          <a:xfrm>
            <a:off x="609441" y="274638"/>
            <a:ext cx="1096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200"/>
              <a:t>Comparison of  Language Models </a:t>
            </a:r>
            <a:endParaRPr b="1" sz="3200"/>
          </a:p>
        </p:txBody>
      </p:sp>
      <p:pic>
        <p:nvPicPr>
          <p:cNvPr id="88" name="Google Shape;88;g8d2fcf7eb2_7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475" y="1527250"/>
            <a:ext cx="8058125" cy="428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942c369cf5_0_17"/>
          <p:cNvSpPr txBox="1"/>
          <p:nvPr/>
        </p:nvSpPr>
        <p:spPr>
          <a:xfrm>
            <a:off x="1815350" y="2945625"/>
            <a:ext cx="77697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942c369cf5_0_17"/>
          <p:cNvSpPr txBox="1"/>
          <p:nvPr/>
        </p:nvSpPr>
        <p:spPr>
          <a:xfrm>
            <a:off x="1436400" y="945500"/>
            <a:ext cx="74640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B1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Attention Models</a:t>
            </a:r>
            <a:r>
              <a:rPr b="1" i="0" lang="en-US" sz="3200" u="none" cap="none" strike="noStrike">
                <a:solidFill>
                  <a:srgbClr val="00B1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i="0" sz="3200" u="none" cap="none" strike="noStrike">
              <a:solidFill>
                <a:srgbClr val="00B1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g942c369cf5_0_17"/>
          <p:cNvSpPr txBox="1"/>
          <p:nvPr/>
        </p:nvSpPr>
        <p:spPr>
          <a:xfrm>
            <a:off x="1926700" y="1751550"/>
            <a:ext cx="77607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g942c369cf5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400" y="1832425"/>
            <a:ext cx="6944099" cy="373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942c369cf5_2_0"/>
          <p:cNvSpPr txBox="1"/>
          <p:nvPr/>
        </p:nvSpPr>
        <p:spPr>
          <a:xfrm>
            <a:off x="1815350" y="2945625"/>
            <a:ext cx="77697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942c369cf5_2_0"/>
          <p:cNvSpPr txBox="1"/>
          <p:nvPr/>
        </p:nvSpPr>
        <p:spPr>
          <a:xfrm>
            <a:off x="1638850" y="945500"/>
            <a:ext cx="72615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B1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Attention Models</a:t>
            </a:r>
            <a:r>
              <a:rPr b="1" i="0" lang="en-US" sz="3200" u="none" cap="none" strike="noStrike">
                <a:solidFill>
                  <a:srgbClr val="00B1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i="0" sz="3200" u="none" cap="none" strike="noStrike">
              <a:solidFill>
                <a:srgbClr val="00B1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g942c369cf5_2_0"/>
          <p:cNvSpPr txBox="1"/>
          <p:nvPr/>
        </p:nvSpPr>
        <p:spPr>
          <a:xfrm>
            <a:off x="1926700" y="1751550"/>
            <a:ext cx="77607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g942c369cf5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7325" y="1751550"/>
            <a:ext cx="6902000" cy="400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/>
        </p:nvSpPr>
        <p:spPr>
          <a:xfrm>
            <a:off x="2092700" y="1122000"/>
            <a:ext cx="72615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1374125" y="705975"/>
            <a:ext cx="8698500" cy="1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00B1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Learnings</a:t>
            </a:r>
            <a:endParaRPr b="1" i="0" sz="3300" u="none" cap="none" strike="noStrike">
              <a:solidFill>
                <a:srgbClr val="00B1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2231375" y="2886925"/>
            <a:ext cx="72615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1684175" y="1643775"/>
            <a:ext cx="7760700" cy="3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75787B"/>
              </a:buClr>
              <a:buSzPts val="1500"/>
              <a:buFont typeface="Helvetica Neue"/>
              <a:buChar char="●"/>
            </a:pPr>
            <a:r>
              <a:rPr b="1" lang="en-US" sz="1500">
                <a:solidFill>
                  <a:srgbClr val="75787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Architectural progression LSTM -&gt;CNN - &gt; GPT</a:t>
            </a:r>
            <a:endParaRPr b="1" sz="1500">
              <a:solidFill>
                <a:srgbClr val="75787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75787B"/>
              </a:buClr>
              <a:buSzPts val="1500"/>
              <a:buFont typeface="Helvetica Neue"/>
              <a:buChar char="●"/>
            </a:pPr>
            <a:r>
              <a:rPr b="1" lang="en-US" sz="1500">
                <a:solidFill>
                  <a:srgbClr val="75787B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Performance of the encoder-decoder network degrades rapidly as the length of the input sentence increases.</a:t>
            </a:r>
            <a:endParaRPr b="1" sz="1500">
              <a:solidFill>
                <a:srgbClr val="75787B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75787B"/>
              </a:buClr>
              <a:buSzPts val="1500"/>
              <a:buFont typeface="Helvetica Neue"/>
              <a:buChar char="●"/>
            </a:pPr>
            <a:r>
              <a:rPr b="1" lang="en-US" sz="1500">
                <a:solidFill>
                  <a:srgbClr val="75787B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LSTM is supposed to capture the long-range dependency better than the RNN, it tends to become forgetful in specific case</a:t>
            </a:r>
            <a:endParaRPr b="1" sz="1500">
              <a:solidFill>
                <a:srgbClr val="75787B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75787B"/>
              </a:buClr>
              <a:buSzPts val="1500"/>
              <a:buFont typeface="Helvetica Neue"/>
              <a:buChar char="●"/>
            </a:pPr>
            <a:r>
              <a:rPr b="1" lang="en-US" sz="1500">
                <a:solidFill>
                  <a:srgbClr val="75787B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GPT is able to capture long range context very well</a:t>
            </a:r>
            <a:endParaRPr b="1" sz="1500">
              <a:solidFill>
                <a:srgbClr val="75787B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942c369cf5_2_8"/>
          <p:cNvSpPr txBox="1"/>
          <p:nvPr/>
        </p:nvSpPr>
        <p:spPr>
          <a:xfrm>
            <a:off x="2092700" y="1122000"/>
            <a:ext cx="72615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942c369cf5_2_8"/>
          <p:cNvSpPr txBox="1"/>
          <p:nvPr/>
        </p:nvSpPr>
        <p:spPr>
          <a:xfrm>
            <a:off x="1374125" y="705975"/>
            <a:ext cx="8698500" cy="1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B14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Unsupervised Learning by predicting the next word !</a:t>
            </a:r>
            <a:endParaRPr b="1" i="0" sz="3300" u="none" cap="none" strike="noStrike">
              <a:solidFill>
                <a:srgbClr val="00B14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g942c369cf5_2_8"/>
          <p:cNvSpPr txBox="1"/>
          <p:nvPr/>
        </p:nvSpPr>
        <p:spPr>
          <a:xfrm>
            <a:off x="2231375" y="2886925"/>
            <a:ext cx="72615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942c369cf5_2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800" y="2146800"/>
            <a:ext cx="6289797" cy="28190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942c369cf5_2_8"/>
          <p:cNvSpPr txBox="1"/>
          <p:nvPr/>
        </p:nvSpPr>
        <p:spPr>
          <a:xfrm>
            <a:off x="8118650" y="2786075"/>
            <a:ext cx="1437300" cy="491700"/>
          </a:xfrm>
          <a:prstGeom prst="rect">
            <a:avLst/>
          </a:prstGeom>
          <a:solidFill>
            <a:srgbClr val="88C89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highlight>
                  <a:srgbClr val="88C890"/>
                </a:highlight>
                <a:latin typeface="Arial"/>
                <a:ea typeface="Arial"/>
                <a:cs typeface="Arial"/>
                <a:sym typeface="Arial"/>
              </a:rPr>
              <a:t>OpenAI GPT 2</a:t>
            </a:r>
            <a:endParaRPr b="1" i="0" sz="1400" u="none" cap="none" strike="noStrike">
              <a:solidFill>
                <a:srgbClr val="000000"/>
              </a:solidFill>
              <a:highlight>
                <a:srgbClr val="88C89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8d2fcf7eb2_2_8"/>
          <p:cNvSpPr txBox="1"/>
          <p:nvPr/>
        </p:nvSpPr>
        <p:spPr>
          <a:xfrm>
            <a:off x="2092700" y="1122000"/>
            <a:ext cx="72615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8d2fcf7eb2_2_8"/>
          <p:cNvSpPr txBox="1"/>
          <p:nvPr/>
        </p:nvSpPr>
        <p:spPr>
          <a:xfrm>
            <a:off x="2231375" y="2886925"/>
            <a:ext cx="72615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8d2fcf7eb2_2_8"/>
          <p:cNvSpPr txBox="1"/>
          <p:nvPr>
            <p:ph type="title"/>
          </p:nvPr>
        </p:nvSpPr>
        <p:spPr>
          <a:xfrm>
            <a:off x="609441" y="274638"/>
            <a:ext cx="1096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GPT 2</a:t>
            </a:r>
            <a:endParaRPr b="1"/>
          </a:p>
        </p:txBody>
      </p:sp>
      <p:sp>
        <p:nvSpPr>
          <p:cNvPr id="129" name="Google Shape;129;g8d2fcf7eb2_2_8"/>
          <p:cNvSpPr txBox="1"/>
          <p:nvPr>
            <p:ph idx="1" type="body"/>
          </p:nvPr>
        </p:nvSpPr>
        <p:spPr>
          <a:xfrm>
            <a:off x="609450" y="1752325"/>
            <a:ext cx="10969800" cy="4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300"/>
              <a:buChar char="●"/>
            </a:pPr>
            <a:r>
              <a:rPr lang="en-US" sz="2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1.5B transformer</a:t>
            </a:r>
            <a:endParaRPr sz="2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300"/>
              <a:buChar char="●"/>
            </a:pPr>
            <a:r>
              <a:rPr lang="en-US" sz="2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8B Webpages,</a:t>
            </a:r>
            <a:endParaRPr sz="2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300"/>
              <a:buChar char="●"/>
            </a:pPr>
            <a:r>
              <a:rPr lang="en-US" sz="2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Webtext = High variety training data</a:t>
            </a:r>
            <a:endParaRPr sz="2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300"/>
              <a:buChar char="●"/>
            </a:pPr>
            <a:r>
              <a:rPr lang="en-US" sz="2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100 voltas for a week </a:t>
            </a:r>
            <a:endParaRPr sz="2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3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500">
              <a:solidFill>
                <a:srgbClr val="666666"/>
              </a:solidFill>
            </a:endParaRPr>
          </a:p>
        </p:txBody>
      </p:sp>
      <p:pic>
        <p:nvPicPr>
          <p:cNvPr id="130" name="Google Shape;130;g8d2fcf7eb2_2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6075" y="3341425"/>
            <a:ext cx="6103498" cy="25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944d934fb9_0_7"/>
          <p:cNvSpPr txBox="1"/>
          <p:nvPr/>
        </p:nvSpPr>
        <p:spPr>
          <a:xfrm>
            <a:off x="2092700" y="1122000"/>
            <a:ext cx="72615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944d934fb9_0_7"/>
          <p:cNvSpPr txBox="1"/>
          <p:nvPr/>
        </p:nvSpPr>
        <p:spPr>
          <a:xfrm>
            <a:off x="2231375" y="2886925"/>
            <a:ext cx="72615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944d934fb9_0_7"/>
          <p:cNvSpPr txBox="1"/>
          <p:nvPr>
            <p:ph type="title"/>
          </p:nvPr>
        </p:nvSpPr>
        <p:spPr>
          <a:xfrm>
            <a:off x="609441" y="274638"/>
            <a:ext cx="1096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Autocomplete</a:t>
            </a:r>
            <a:endParaRPr b="1"/>
          </a:p>
        </p:txBody>
      </p:sp>
      <p:pic>
        <p:nvPicPr>
          <p:cNvPr id="138" name="Google Shape;138;g944d934fb9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275" y="1859351"/>
            <a:ext cx="10920201" cy="297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8d2fcf7eb2_2_28"/>
          <p:cNvSpPr txBox="1"/>
          <p:nvPr/>
        </p:nvSpPr>
        <p:spPr>
          <a:xfrm>
            <a:off x="2092700" y="1122000"/>
            <a:ext cx="72615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8d2fcf7eb2_2_28"/>
          <p:cNvSpPr txBox="1"/>
          <p:nvPr/>
        </p:nvSpPr>
        <p:spPr>
          <a:xfrm>
            <a:off x="2231375" y="2886925"/>
            <a:ext cx="72615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8d2fcf7eb2_2_28"/>
          <p:cNvSpPr txBox="1"/>
          <p:nvPr>
            <p:ph type="title"/>
          </p:nvPr>
        </p:nvSpPr>
        <p:spPr>
          <a:xfrm>
            <a:off x="609441" y="274638"/>
            <a:ext cx="1096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GPT 3</a:t>
            </a:r>
            <a:endParaRPr b="1"/>
          </a:p>
        </p:txBody>
      </p:sp>
      <p:sp>
        <p:nvSpPr>
          <p:cNvPr id="146" name="Google Shape;146;g8d2fcf7eb2_2_28"/>
          <p:cNvSpPr txBox="1"/>
          <p:nvPr>
            <p:ph idx="1" type="body"/>
          </p:nvPr>
        </p:nvSpPr>
        <p:spPr>
          <a:xfrm>
            <a:off x="609516" y="1587601"/>
            <a:ext cx="10969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Helvetica Neue"/>
              <a:buChar char="●"/>
            </a:pPr>
            <a:r>
              <a:rPr lang="en-US" sz="2200">
                <a:solidFill>
                  <a:srgbClr val="666666"/>
                </a:solidFill>
              </a:rPr>
              <a:t>Trained on 175B parameters</a:t>
            </a:r>
            <a:endParaRPr sz="2200">
              <a:solidFill>
                <a:srgbClr val="666666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Helvetica Neue"/>
              <a:buChar char="●"/>
            </a:pPr>
            <a:r>
              <a:rPr lang="en-US" sz="2200">
                <a:solidFill>
                  <a:srgbClr val="666666"/>
                </a:solidFill>
              </a:rPr>
              <a:t>3.2M batch Size</a:t>
            </a:r>
            <a:endParaRPr sz="2200">
              <a:solidFill>
                <a:srgbClr val="666666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Helvetica Neue"/>
              <a:buChar char="●"/>
            </a:pPr>
            <a:r>
              <a:rPr lang="en-US" sz="2200">
                <a:solidFill>
                  <a:srgbClr val="666666"/>
                </a:solidFill>
                <a:highlight>
                  <a:schemeClr val="lt1"/>
                </a:highlight>
              </a:rPr>
              <a:t>It’s bigger than anything that we had before. (175B parameters, previously </a:t>
            </a:r>
            <a:r>
              <a:rPr lang="en-US" sz="2200">
                <a:solidFill>
                  <a:srgbClr val="666666"/>
                </a:solidFill>
                <a:highlight>
                  <a:schemeClr val="lt1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1.5B</a:t>
            </a:r>
            <a:r>
              <a:rPr lang="en-US" sz="2200">
                <a:solidFill>
                  <a:srgbClr val="666666"/>
                </a:solidFill>
                <a:highlight>
                  <a:schemeClr val="lt1"/>
                </a:highlight>
              </a:rPr>
              <a:t>)</a:t>
            </a:r>
            <a:endParaRPr sz="22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Helvetica Neue"/>
              <a:buChar char="●"/>
            </a:pPr>
            <a:r>
              <a:rPr lang="en-US" sz="2200">
                <a:solidFill>
                  <a:srgbClr val="666666"/>
                </a:solidFill>
                <a:highlight>
                  <a:schemeClr val="lt1"/>
                </a:highlight>
              </a:rPr>
              <a:t>You can use it as a product.</a:t>
            </a:r>
            <a:endParaRPr sz="22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Helvetica Neue"/>
              <a:buChar char="●"/>
            </a:pPr>
            <a:r>
              <a:rPr lang="en-US" sz="2200">
                <a:solidFill>
                  <a:srgbClr val="666666"/>
                </a:solidFill>
                <a:highlight>
                  <a:schemeClr val="lt1"/>
                </a:highlight>
              </a:rPr>
              <a:t>Most importantly — even if you give a very small input, it will figure out what you want really quickly with high accuracy.</a:t>
            </a:r>
            <a:endParaRPr sz="22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Font typeface="Helvetica Neue"/>
              <a:buChar char="●"/>
            </a:pPr>
            <a:r>
              <a:rPr lang="en-US" sz="2200">
                <a:solidFill>
                  <a:srgbClr val="666666"/>
                </a:solidFill>
                <a:highlight>
                  <a:schemeClr val="lt1"/>
                </a:highlight>
              </a:rPr>
              <a:t>It’s trained on ~1 trillion words and is so big that it costs ~$4.6M each time you train it.</a:t>
            </a:r>
            <a:endParaRPr sz="2200">
              <a:solidFill>
                <a:srgbClr val="666666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"/>
          <p:cNvSpPr txBox="1"/>
          <p:nvPr>
            <p:ph type="title"/>
          </p:nvPr>
        </p:nvSpPr>
        <p:spPr>
          <a:xfrm>
            <a:off x="609441" y="274638"/>
            <a:ext cx="1096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AI that can write and create !</a:t>
            </a:r>
            <a:endParaRPr b="1"/>
          </a:p>
        </p:txBody>
      </p:sp>
      <p:sp>
        <p:nvSpPr>
          <p:cNvPr id="152" name="Google Shape;152;p13"/>
          <p:cNvSpPr txBox="1"/>
          <p:nvPr>
            <p:ph idx="1" type="body"/>
          </p:nvPr>
        </p:nvSpPr>
        <p:spPr>
          <a:xfrm>
            <a:off x="609450" y="1417650"/>
            <a:ext cx="10969800" cy="4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18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rgbClr val="666666"/>
                </a:solidFill>
                <a:highlight>
                  <a:schemeClr val="lt1"/>
                </a:highlight>
              </a:rPr>
              <a:t>Songs, </a:t>
            </a:r>
            <a:endParaRPr sz="20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rgbClr val="666666"/>
                </a:solidFill>
                <a:highlight>
                  <a:schemeClr val="lt1"/>
                </a:highlight>
              </a:rPr>
              <a:t>Stories</a:t>
            </a:r>
            <a:endParaRPr sz="20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rgbClr val="666666"/>
                </a:solidFill>
                <a:highlight>
                  <a:schemeClr val="lt1"/>
                </a:highlight>
              </a:rPr>
              <a:t>Press releases</a:t>
            </a:r>
            <a:endParaRPr sz="20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rgbClr val="666666"/>
                </a:solidFill>
                <a:highlight>
                  <a:schemeClr val="lt1"/>
                </a:highlight>
              </a:rPr>
              <a:t>Guitar tabs</a:t>
            </a:r>
            <a:endParaRPr sz="20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rgbClr val="666666"/>
                </a:solidFill>
                <a:highlight>
                  <a:schemeClr val="lt1"/>
                </a:highlight>
              </a:rPr>
              <a:t>Interviews</a:t>
            </a:r>
            <a:endParaRPr sz="20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rgbClr val="666666"/>
                </a:solidFill>
                <a:highlight>
                  <a:schemeClr val="lt1"/>
                </a:highlight>
              </a:rPr>
              <a:t>Essays</a:t>
            </a:r>
            <a:endParaRPr sz="20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rgbClr val="666666"/>
                </a:solidFill>
                <a:highlight>
                  <a:schemeClr val="lt1"/>
                </a:highlight>
              </a:rPr>
              <a:t>Technical manuals, </a:t>
            </a:r>
            <a:endParaRPr sz="20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rgbClr val="666666"/>
                </a:solidFill>
                <a:highlight>
                  <a:schemeClr val="lt1"/>
                </a:highlight>
              </a:rPr>
              <a:t>Computer code</a:t>
            </a:r>
            <a:endParaRPr sz="20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rgbClr val="666666"/>
                </a:solidFill>
                <a:highlight>
                  <a:schemeClr val="lt1"/>
                </a:highlight>
              </a:rPr>
              <a:t>Summarize</a:t>
            </a:r>
            <a:endParaRPr sz="20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rgbClr val="666666"/>
                </a:solidFill>
                <a:highlight>
                  <a:schemeClr val="lt1"/>
                </a:highlight>
              </a:rPr>
              <a:t>Prescribe medication and do many other things which we haven’t even discovered yet.</a:t>
            </a:r>
            <a:endParaRPr sz="20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rgbClr val="666666"/>
                </a:solidFill>
                <a:highlight>
                  <a:schemeClr val="lt1"/>
                </a:highlight>
              </a:rPr>
              <a:t>Build webapps</a:t>
            </a:r>
            <a:endParaRPr sz="2000">
              <a:solidFill>
                <a:srgbClr val="666666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944d934fb9_0_24"/>
          <p:cNvSpPr txBox="1"/>
          <p:nvPr>
            <p:ph type="title"/>
          </p:nvPr>
        </p:nvSpPr>
        <p:spPr>
          <a:xfrm>
            <a:off x="609441" y="274638"/>
            <a:ext cx="1096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AI that can write and create !</a:t>
            </a:r>
            <a:endParaRPr b="1"/>
          </a:p>
        </p:txBody>
      </p:sp>
      <p:sp>
        <p:nvSpPr>
          <p:cNvPr id="158" name="Google Shape;158;g944d934fb9_0_24"/>
          <p:cNvSpPr txBox="1"/>
          <p:nvPr>
            <p:ph idx="1" type="body"/>
          </p:nvPr>
        </p:nvSpPr>
        <p:spPr>
          <a:xfrm>
            <a:off x="609450" y="1417650"/>
            <a:ext cx="10969800" cy="4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66"/>
              </a:solidFill>
              <a:highlight>
                <a:schemeClr val="lt1"/>
              </a:highlight>
            </a:endParaRPr>
          </a:p>
        </p:txBody>
      </p:sp>
      <p:pic>
        <p:nvPicPr>
          <p:cNvPr id="159" name="Google Shape;159;g944d934fb9_0_24"/>
          <p:cNvPicPr preferRelativeResize="0"/>
          <p:nvPr/>
        </p:nvPicPr>
        <p:blipFill rotWithShape="1">
          <a:blip r:embed="rId3">
            <a:alphaModFix/>
          </a:blip>
          <a:srcRect b="-9230" l="0" r="0" t="9230"/>
          <a:stretch/>
        </p:blipFill>
        <p:spPr>
          <a:xfrm>
            <a:off x="663350" y="1417650"/>
            <a:ext cx="6019501" cy="45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944d934fb9_0_24"/>
          <p:cNvSpPr txBox="1"/>
          <p:nvPr/>
        </p:nvSpPr>
        <p:spPr>
          <a:xfrm>
            <a:off x="6801425" y="4174075"/>
            <a:ext cx="34653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 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https://arxiv.org/pdf/2005.14165.pdf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d2fcf7eb2_2_37"/>
          <p:cNvSpPr txBox="1"/>
          <p:nvPr>
            <p:ph type="title"/>
          </p:nvPr>
        </p:nvSpPr>
        <p:spPr>
          <a:xfrm>
            <a:off x="609441" y="274638"/>
            <a:ext cx="1096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Demo!</a:t>
            </a:r>
            <a:endParaRPr b="1"/>
          </a:p>
        </p:txBody>
      </p:sp>
      <p:sp>
        <p:nvSpPr>
          <p:cNvPr id="166" name="Google Shape;166;g8d2fcf7eb2_2_37"/>
          <p:cNvSpPr txBox="1"/>
          <p:nvPr>
            <p:ph idx="1" type="body"/>
          </p:nvPr>
        </p:nvSpPr>
        <p:spPr>
          <a:xfrm>
            <a:off x="609450" y="1417650"/>
            <a:ext cx="10969800" cy="4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Music Generation on Musenet- Open AI GPT- 2   </a:t>
            </a:r>
            <a:endParaRPr sz="2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  <a:hlinkClick r:id="rId3"/>
              </a:rPr>
              <a:t>Music Generation</a:t>
            </a:r>
            <a:r>
              <a:rPr b="1" lang="en-US">
                <a:solidFill>
                  <a:srgbClr val="5A39A2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23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3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Char char="●"/>
            </a:pPr>
            <a:r>
              <a:rPr lang="en-US" sz="2800">
                <a:solidFill>
                  <a:srgbClr val="666666"/>
                </a:solidFill>
                <a:highlight>
                  <a:schemeClr val="lt1"/>
                </a:highlight>
              </a:rPr>
              <a:t>GPT-3 examples </a:t>
            </a:r>
            <a:endParaRPr sz="28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2700">
                <a:solidFill>
                  <a:srgbClr val="666666"/>
                </a:solidFill>
                <a:highlight>
                  <a:schemeClr val="lt1"/>
                </a:highlight>
              </a:rPr>
              <a:t>  </a:t>
            </a:r>
            <a:r>
              <a:rPr lang="en-US" sz="2200">
                <a:solidFill>
                  <a:srgbClr val="666666"/>
                </a:solidFill>
                <a:highlight>
                  <a:schemeClr val="lt1"/>
                </a:highlight>
              </a:rPr>
              <a:t>    </a:t>
            </a:r>
            <a:r>
              <a:rPr b="1" lang="en-US" sz="2200" u="sng">
                <a:solidFill>
                  <a:schemeClr val="hlink"/>
                </a:solidFill>
                <a:highlight>
                  <a:schemeClr val="lt1"/>
                </a:highlight>
                <a:hlinkClick r:id="rId4"/>
              </a:rPr>
              <a:t>Gpt3demo</a:t>
            </a:r>
            <a:endParaRPr b="1" sz="22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666666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944d934fb9_0_16"/>
          <p:cNvSpPr txBox="1"/>
          <p:nvPr>
            <p:ph type="title"/>
          </p:nvPr>
        </p:nvSpPr>
        <p:spPr>
          <a:xfrm>
            <a:off x="609441" y="274638"/>
            <a:ext cx="1096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Current Research Areas </a:t>
            </a:r>
            <a:endParaRPr b="1"/>
          </a:p>
        </p:txBody>
      </p:sp>
      <p:sp>
        <p:nvSpPr>
          <p:cNvPr id="172" name="Google Shape;172;g944d934fb9_0_16"/>
          <p:cNvSpPr txBox="1"/>
          <p:nvPr>
            <p:ph idx="1" type="body"/>
          </p:nvPr>
        </p:nvSpPr>
        <p:spPr>
          <a:xfrm>
            <a:off x="609450" y="1417650"/>
            <a:ext cx="10969800" cy="4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87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2050"/>
              <a:buFont typeface="Helvetica Neue"/>
              <a:buChar char="●"/>
            </a:pPr>
            <a:r>
              <a:rPr lang="en-US" sz="2050">
                <a:solidFill>
                  <a:srgbClr val="404248"/>
                </a:solidFill>
                <a:highlight>
                  <a:srgbClr val="FFFFFF"/>
                </a:highlight>
              </a:rPr>
              <a:t>Semantic search</a:t>
            </a:r>
            <a:endParaRPr sz="2050">
              <a:solidFill>
                <a:srgbClr val="404248"/>
              </a:solidFill>
              <a:highlight>
                <a:srgbClr val="FFFFFF"/>
              </a:highlight>
            </a:endParaRPr>
          </a:p>
          <a:p>
            <a:pPr indent="-3587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2050"/>
              <a:buFont typeface="Helvetica Neue"/>
              <a:buChar char="●"/>
            </a:pPr>
            <a:r>
              <a:rPr lang="en-US" sz="2050">
                <a:solidFill>
                  <a:srgbClr val="404248"/>
                </a:solidFill>
                <a:highlight>
                  <a:srgbClr val="FFFFFF"/>
                </a:highlight>
              </a:rPr>
              <a:t>Summarization</a:t>
            </a:r>
            <a:endParaRPr sz="2050">
              <a:solidFill>
                <a:srgbClr val="404248"/>
              </a:solidFill>
              <a:highlight>
                <a:srgbClr val="FFFFFF"/>
              </a:highlight>
            </a:endParaRPr>
          </a:p>
          <a:p>
            <a:pPr indent="-3587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2050"/>
              <a:buFont typeface="Helvetica Neue"/>
              <a:buChar char="●"/>
            </a:pPr>
            <a:r>
              <a:rPr lang="en-US" sz="2050">
                <a:solidFill>
                  <a:srgbClr val="404248"/>
                </a:solidFill>
                <a:highlight>
                  <a:srgbClr val="FFFFFF"/>
                </a:highlight>
              </a:rPr>
              <a:t>Sentiment analysis</a:t>
            </a:r>
            <a:endParaRPr sz="2050">
              <a:solidFill>
                <a:srgbClr val="404248"/>
              </a:solidFill>
              <a:highlight>
                <a:srgbClr val="FFFFFF"/>
              </a:highlight>
            </a:endParaRPr>
          </a:p>
          <a:p>
            <a:pPr indent="-3587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2050"/>
              <a:buFont typeface="Helvetica Neue"/>
              <a:buChar char="●"/>
            </a:pPr>
            <a:r>
              <a:rPr lang="en-US" sz="2050">
                <a:solidFill>
                  <a:srgbClr val="404248"/>
                </a:solidFill>
                <a:highlight>
                  <a:srgbClr val="FFFFFF"/>
                </a:highlight>
              </a:rPr>
              <a:t>Content generation</a:t>
            </a:r>
            <a:endParaRPr sz="2050">
              <a:solidFill>
                <a:srgbClr val="404248"/>
              </a:solidFill>
              <a:highlight>
                <a:srgbClr val="FFFFFF"/>
              </a:highlight>
            </a:endParaRPr>
          </a:p>
          <a:p>
            <a:pPr indent="-3587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2050"/>
              <a:buFont typeface="Helvetica Neue"/>
              <a:buChar char="●"/>
            </a:pPr>
            <a:r>
              <a:rPr lang="en-US" sz="2050">
                <a:solidFill>
                  <a:srgbClr val="404248"/>
                </a:solidFill>
                <a:highlight>
                  <a:srgbClr val="FFFFFF"/>
                </a:highlight>
              </a:rPr>
              <a:t>Translation</a:t>
            </a:r>
            <a:endParaRPr sz="2050">
              <a:solidFill>
                <a:srgbClr val="404248"/>
              </a:solidFill>
              <a:highlight>
                <a:srgbClr val="FFFFFF"/>
              </a:highlight>
            </a:endParaRPr>
          </a:p>
          <a:p>
            <a:pPr indent="-3587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2050"/>
              <a:buFont typeface="Helvetica Neue"/>
              <a:buChar char="●"/>
            </a:pPr>
            <a:r>
              <a:rPr lang="en-US" sz="2050">
                <a:solidFill>
                  <a:srgbClr val="404248"/>
                </a:solidFill>
                <a:highlight>
                  <a:srgbClr val="FFFFFF"/>
                </a:highlight>
              </a:rPr>
              <a:t>Common Sense and Reasoning</a:t>
            </a:r>
            <a:endParaRPr sz="2050">
              <a:solidFill>
                <a:srgbClr val="404248"/>
              </a:solidFill>
              <a:highlight>
                <a:srgbClr val="FFFFFF"/>
              </a:highlight>
            </a:endParaRPr>
          </a:p>
          <a:p>
            <a:pPr indent="-3587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2050"/>
              <a:buFont typeface="Helvetica Neue"/>
              <a:buChar char="●"/>
            </a:pPr>
            <a:r>
              <a:rPr lang="en-US" sz="2050">
                <a:solidFill>
                  <a:srgbClr val="404248"/>
                </a:solidFill>
                <a:highlight>
                  <a:srgbClr val="FFFFFF"/>
                </a:highlight>
              </a:rPr>
              <a:t>Reading Comprehension</a:t>
            </a:r>
            <a:endParaRPr sz="2050">
              <a:solidFill>
                <a:srgbClr val="404248"/>
              </a:solidFill>
              <a:highlight>
                <a:srgbClr val="FFFFFF"/>
              </a:highlight>
            </a:endParaRPr>
          </a:p>
          <a:p>
            <a:pPr indent="-3587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8"/>
              </a:buClr>
              <a:buSzPts val="2050"/>
              <a:buFont typeface="Helvetica Neue"/>
              <a:buChar char="●"/>
            </a:pPr>
            <a:r>
              <a:rPr lang="en-US" sz="2050">
                <a:solidFill>
                  <a:srgbClr val="404248"/>
                </a:solidFill>
                <a:highlight>
                  <a:srgbClr val="FFFFFF"/>
                </a:highlight>
              </a:rPr>
              <a:t>Question Answering</a:t>
            </a:r>
            <a:endParaRPr sz="2050">
              <a:solidFill>
                <a:srgbClr val="404248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40424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66666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944d934fb9_0_2"/>
          <p:cNvSpPr txBox="1"/>
          <p:nvPr>
            <p:ph type="title"/>
          </p:nvPr>
        </p:nvSpPr>
        <p:spPr>
          <a:xfrm>
            <a:off x="609441" y="274638"/>
            <a:ext cx="1096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What’s next </a:t>
            </a:r>
            <a:r>
              <a:rPr b="1" lang="en-US"/>
              <a:t>!</a:t>
            </a:r>
            <a:endParaRPr b="1"/>
          </a:p>
        </p:txBody>
      </p:sp>
      <p:sp>
        <p:nvSpPr>
          <p:cNvPr id="178" name="Google Shape;178;g944d934fb9_0_2"/>
          <p:cNvSpPr txBox="1"/>
          <p:nvPr>
            <p:ph idx="1" type="body"/>
          </p:nvPr>
        </p:nvSpPr>
        <p:spPr>
          <a:xfrm>
            <a:off x="609450" y="1417650"/>
            <a:ext cx="10969800" cy="4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Char char="●"/>
            </a:pPr>
            <a:r>
              <a:rPr lang="en-US" sz="2200">
                <a:solidFill>
                  <a:srgbClr val="666666"/>
                </a:solidFill>
                <a:highlight>
                  <a:schemeClr val="lt1"/>
                </a:highlight>
              </a:rPr>
              <a:t>Data Creation, Data Quality, Data curation are the next frontiers</a:t>
            </a:r>
            <a:endParaRPr sz="22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Char char="●"/>
            </a:pPr>
            <a:r>
              <a:rPr lang="en-US" sz="2200">
                <a:solidFill>
                  <a:srgbClr val="666666"/>
                </a:solidFill>
                <a:highlight>
                  <a:schemeClr val="lt1"/>
                </a:highlight>
              </a:rPr>
              <a:t>Bias and Fairness handling within Datasets will </a:t>
            </a:r>
            <a:endParaRPr sz="22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Char char="●"/>
            </a:pPr>
            <a:r>
              <a:rPr lang="en-US" sz="2200">
                <a:solidFill>
                  <a:srgbClr val="666666"/>
                </a:solidFill>
                <a:highlight>
                  <a:schemeClr val="lt1"/>
                </a:highlight>
              </a:rPr>
              <a:t>Rise of pretrained models </a:t>
            </a:r>
            <a:endParaRPr sz="22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Char char="●"/>
            </a:pPr>
            <a:r>
              <a:rPr lang="en-US" sz="2200">
                <a:solidFill>
                  <a:srgbClr val="666666"/>
                </a:solidFill>
                <a:highlight>
                  <a:schemeClr val="lt1"/>
                </a:highlight>
              </a:rPr>
              <a:t>Model size and computations</a:t>
            </a:r>
            <a:endParaRPr sz="2200">
              <a:solidFill>
                <a:srgbClr val="666666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8d2fcf7eb2_2_45"/>
          <p:cNvSpPr txBox="1"/>
          <p:nvPr>
            <p:ph type="title"/>
          </p:nvPr>
        </p:nvSpPr>
        <p:spPr>
          <a:xfrm>
            <a:off x="609450" y="274653"/>
            <a:ext cx="10969800" cy="14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Thank You !</a:t>
            </a:r>
            <a:endParaRPr b="1"/>
          </a:p>
        </p:txBody>
      </p:sp>
      <p:sp>
        <p:nvSpPr>
          <p:cNvPr id="184" name="Google Shape;184;g8d2fcf7eb2_2_45"/>
          <p:cNvSpPr txBox="1"/>
          <p:nvPr>
            <p:ph idx="1" type="body"/>
          </p:nvPr>
        </p:nvSpPr>
        <p:spPr>
          <a:xfrm>
            <a:off x="609450" y="1417650"/>
            <a:ext cx="10969800" cy="4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800">
              <a:solidFill>
                <a:srgbClr val="666666"/>
              </a:solidFill>
              <a:highlight>
                <a:schemeClr val="lt1"/>
              </a:highlight>
            </a:endParaRPr>
          </a:p>
        </p:txBody>
      </p:sp>
      <p:sp>
        <p:nvSpPr>
          <p:cNvPr id="185" name="Google Shape;185;g8d2fcf7eb2_2_45"/>
          <p:cNvSpPr txBox="1"/>
          <p:nvPr/>
        </p:nvSpPr>
        <p:spPr>
          <a:xfrm>
            <a:off x="781475" y="2236600"/>
            <a:ext cx="7760700" cy="23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https://www.linkedin.com/in/chirasmitamallick/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b="0" i="0" lang="en-US" sz="2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hello@chirasmita.com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="0" i="0" lang="en-US" sz="2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www.chirasmita.com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8d2fcf7eb2_2_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11100" y="2236600"/>
            <a:ext cx="494350" cy="51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8d2fcf7eb2_2_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53713" y="3048175"/>
            <a:ext cx="609125" cy="45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8d2fcf7eb2_2_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11100" y="3651900"/>
            <a:ext cx="494350" cy="49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/>
          <p:nvPr/>
        </p:nvSpPr>
        <p:spPr>
          <a:xfrm>
            <a:off x="0" y="1599523"/>
            <a:ext cx="12188825" cy="2735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4875" y="3988150"/>
            <a:ext cx="3530050" cy="995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WiDS Conference">
      <a:dk1>
        <a:srgbClr val="00B140"/>
      </a:dk1>
      <a:lt1>
        <a:srgbClr val="FFFFFF"/>
      </a:lt1>
      <a:dk2>
        <a:srgbClr val="231F20"/>
      </a:dk2>
      <a:lt2>
        <a:srgbClr val="75787B"/>
      </a:lt2>
      <a:accent1>
        <a:srgbClr val="EAAA00"/>
      </a:accent1>
      <a:accent2>
        <a:srgbClr val="06038D"/>
      </a:accent2>
      <a:accent3>
        <a:srgbClr val="009CA6"/>
      </a:accent3>
      <a:accent4>
        <a:srgbClr val="53284F"/>
      </a:accent4>
      <a:accent5>
        <a:srgbClr val="8C1515"/>
      </a:accent5>
      <a:accent6>
        <a:srgbClr val="BE531C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2016-07-11T18:29:08Z</dcterms:created>
</cp:coreProperties>
</file>